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</p:sldIdLst>
  <p:sldSz cx="14630400" cy="8229600"/>
  <p:notesSz cx="8229600" cy="14630400"/>
  <p:embeddedFontLst>
    <p:embeddedFont>
      <p:font typeface="Roboto" panose="02000000000000000000" pitchFamily="2" charset="0"/>
      <p:regular r:id="rId13"/>
      <p:bold r:id="rId14"/>
      <p:italic r:id="rId15"/>
    </p:embeddedFont>
    <p:embeddedFont>
      <p:font typeface="Roboto Slab" pitchFamily="2" charset="0"/>
      <p:regular r:id="rId16"/>
    </p:embeddedFont>
    <p:embeddedFont>
      <p:font typeface="Roboto Slab Light" pitchFamily="2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7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67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392023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1B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202733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736705" y="1869693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CarToGo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3596045"/>
            <a:ext cx="7556421" cy="113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Уеб приложение за отдаване на автомобили под наем</a:t>
            </a:r>
            <a:endParaRPr lang="en-US" sz="3550" dirty="0"/>
          </a:p>
        </p:txBody>
      </p:sp>
      <p:sp>
        <p:nvSpPr>
          <p:cNvPr id="5" name="Text 2"/>
          <p:cNvSpPr/>
          <p:nvPr/>
        </p:nvSpPr>
        <p:spPr>
          <a:xfrm>
            <a:off x="793789" y="5777376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i="1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PresAndo team (</a:t>
            </a:r>
            <a:r>
              <a:rPr lang="bg-BG" sz="1750" i="1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Преслава Добрева и Андон Такев</a:t>
            </a:r>
            <a:r>
              <a:rPr lang="en-US" sz="1750" i="1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)</a:t>
            </a:r>
            <a:endParaRPr lang="en-US" sz="17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89612" y="666863"/>
            <a:ext cx="7787402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Какъв проблем решаваме?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676763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02733"/>
          </a:solidFill>
          <a:ln w="30480">
            <a:solidFill>
              <a:srgbClr val="585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310" y="2676763"/>
            <a:ext cx="121920" cy="245661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2524" y="2934057"/>
            <a:ext cx="288036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Разпръснати данни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142524" y="3424476"/>
            <a:ext cx="35903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Автомобилите се предлагат на различни места без централизирана система за търсене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5216962" y="2676763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02733"/>
          </a:solidFill>
          <a:ln w="30480">
            <a:solidFill>
              <a:srgbClr val="585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482" y="2676763"/>
            <a:ext cx="121920" cy="245661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565696" y="293405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Ръчно управление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565696" y="3424476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Резервациите се управляват ръчно, което води до грешки и двойни резервации</a:t>
            </a:r>
            <a:endParaRPr lang="en-US" sz="1750" dirty="0"/>
          </a:p>
        </p:txBody>
      </p:sp>
      <p:sp>
        <p:nvSpPr>
          <p:cNvPr id="11" name="Shape 7"/>
          <p:cNvSpPr/>
          <p:nvPr/>
        </p:nvSpPr>
        <p:spPr>
          <a:xfrm>
            <a:off x="9640133" y="2676763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02733"/>
          </a:solidFill>
          <a:ln w="30480">
            <a:solidFill>
              <a:srgbClr val="585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9653" y="2676763"/>
            <a:ext cx="121920" cy="245661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988868" y="2934057"/>
            <a:ext cx="359033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Недостъпна информация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9988868" y="3778806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Потребителите трудно намират актуална информация за наличност и цени</a:t>
            </a:r>
            <a:endParaRPr lang="en-US" sz="1750" dirty="0"/>
          </a:p>
        </p:txBody>
      </p:sp>
      <p:sp>
        <p:nvSpPr>
          <p:cNvPr id="18" name="Правоъгълник: със заоблени ъгли 17">
            <a:extLst>
              <a:ext uri="{FF2B5EF4-FFF2-40B4-BE49-F238E27FC236}">
                <a16:creationId xmlns:a16="http://schemas.microsoft.com/office/drawing/2014/main" id="{83A3B6EF-4FFE-A610-B8B3-9D43BE13DCF7}"/>
              </a:ext>
            </a:extLst>
          </p:cNvPr>
          <p:cNvSpPr/>
          <p:nvPr/>
        </p:nvSpPr>
        <p:spPr>
          <a:xfrm>
            <a:off x="12801600" y="7705493"/>
            <a:ext cx="1750741" cy="446048"/>
          </a:xfrm>
          <a:prstGeom prst="roundRect">
            <a:avLst/>
          </a:prstGeom>
          <a:solidFill>
            <a:srgbClr val="202733"/>
          </a:solidFill>
          <a:ln>
            <a:solidFill>
              <a:srgbClr val="2027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1">
            <a:extLst>
              <a:ext uri="{FF2B5EF4-FFF2-40B4-BE49-F238E27FC236}">
                <a16:creationId xmlns:a16="http://schemas.microsoft.com/office/drawing/2014/main" id="{246CFDA4-A4E5-18FD-080C-D5CBB774573E}"/>
              </a:ext>
            </a:extLst>
          </p:cNvPr>
          <p:cNvSpPr/>
          <p:nvPr/>
        </p:nvSpPr>
        <p:spPr>
          <a:xfrm>
            <a:off x="9907911" y="4275875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02733"/>
          </a:solidFill>
          <a:ln w="30480">
            <a:solidFill>
              <a:srgbClr val="585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1E050A58-08CC-2043-4515-ABAEBF67D6D2}"/>
              </a:ext>
            </a:extLst>
          </p:cNvPr>
          <p:cNvSpPr/>
          <p:nvPr/>
        </p:nvSpPr>
        <p:spPr>
          <a:xfrm>
            <a:off x="5217020" y="2200453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02733"/>
          </a:solidFill>
          <a:ln w="30480">
            <a:solidFill>
              <a:srgbClr val="585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">
            <a:extLst>
              <a:ext uri="{FF2B5EF4-FFF2-40B4-BE49-F238E27FC236}">
                <a16:creationId xmlns:a16="http://schemas.microsoft.com/office/drawing/2014/main" id="{8F47152D-4D2B-C03E-73EC-A638BBD3FE59}"/>
              </a:ext>
            </a:extLst>
          </p:cNvPr>
          <p:cNvSpPr/>
          <p:nvPr/>
        </p:nvSpPr>
        <p:spPr>
          <a:xfrm>
            <a:off x="635251" y="4275875"/>
            <a:ext cx="4196358" cy="2456617"/>
          </a:xfrm>
          <a:prstGeom prst="roundRect">
            <a:avLst>
              <a:gd name="adj" fmla="val 5956"/>
            </a:avLst>
          </a:prstGeom>
          <a:solidFill>
            <a:srgbClr val="202733"/>
          </a:solidFill>
          <a:ln w="30480">
            <a:solidFill>
              <a:srgbClr val="585F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4486691" y="73552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Нашето решение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4568710"/>
            <a:ext cx="3978116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Централизирана платформа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5504184"/>
            <a:ext cx="39781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Единствена система за управление на всички автомобили и резервации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5657552" y="2847618"/>
            <a:ext cx="331529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Интелигентно търсене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332928" y="3428762"/>
            <a:ext cx="39781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Бързо намиране на подходяща кола според нуждите и дати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10214319" y="4795524"/>
            <a:ext cx="358354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Автоматизиран контрол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17033" y="5335353"/>
            <a:ext cx="39781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Администраторски панел за управление и одобрение на заявки</a:t>
            </a:r>
            <a:endParaRPr lang="en-US" sz="1750" dirty="0"/>
          </a:p>
        </p:txBody>
      </p:sp>
      <p:sp>
        <p:nvSpPr>
          <p:cNvPr id="12" name="Правоъгълник: със заоблени ъгли 11">
            <a:extLst>
              <a:ext uri="{FF2B5EF4-FFF2-40B4-BE49-F238E27FC236}">
                <a16:creationId xmlns:a16="http://schemas.microsoft.com/office/drawing/2014/main" id="{FAD0A6F3-34F8-FEB4-CCBD-114F43E6FEFF}"/>
              </a:ext>
            </a:extLst>
          </p:cNvPr>
          <p:cNvSpPr/>
          <p:nvPr/>
        </p:nvSpPr>
        <p:spPr>
          <a:xfrm>
            <a:off x="12801600" y="7705493"/>
            <a:ext cx="1750741" cy="446048"/>
          </a:xfrm>
          <a:prstGeom prst="roundRect">
            <a:avLst/>
          </a:prstGeom>
          <a:solidFill>
            <a:srgbClr val="202733"/>
          </a:solidFill>
          <a:ln>
            <a:solidFill>
              <a:srgbClr val="2027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341" y="927544"/>
            <a:ext cx="800278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Основни функционалности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903696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D6E5E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01</a:t>
            </a:r>
            <a:endParaRPr lang="en-US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3258741"/>
            <a:ext cx="6407944" cy="3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3790" y="3433048"/>
            <a:ext cx="358771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0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Потребителски профили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793790" y="3923467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Регистрация, вход и управление на лична информация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7428548" y="2903696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D6E5E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02</a:t>
            </a:r>
            <a:endParaRPr lang="en-US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8548" y="3258741"/>
            <a:ext cx="6408063" cy="30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428548" y="3433048"/>
            <a:ext cx="3427214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0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Каталог на автомобили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428548" y="3923467"/>
            <a:ext cx="640806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Преглед на всички налични коли с детайли и снимки</a:t>
            </a: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793789" y="4957050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D6E5E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03</a:t>
            </a:r>
            <a:endParaRPr lang="en-US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89" y="5289354"/>
            <a:ext cx="6407944" cy="30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93789" y="548640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0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Система за заявки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793789" y="5976821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Създаване и проследяване на резервации</a:t>
            </a:r>
            <a:endParaRPr lang="en-US" dirty="0"/>
          </a:p>
        </p:txBody>
      </p:sp>
      <p:sp>
        <p:nvSpPr>
          <p:cNvPr id="15" name="Text 10"/>
          <p:cNvSpPr/>
          <p:nvPr/>
        </p:nvSpPr>
        <p:spPr>
          <a:xfrm>
            <a:off x="7428547" y="4957050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D6E5EF"/>
                </a:solidFill>
                <a:latin typeface="Roboto Slab Light" pitchFamily="34" charset="0"/>
                <a:ea typeface="Roboto Slab Light" pitchFamily="34" charset="-122"/>
                <a:cs typeface="Roboto Slab Light" pitchFamily="34" charset="-120"/>
              </a:rPr>
              <a:t>04</a:t>
            </a:r>
            <a:endParaRPr lang="en-US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8547" y="5289354"/>
            <a:ext cx="6408063" cy="304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428547" y="5486402"/>
            <a:ext cx="366272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0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Административен панел</a:t>
            </a:r>
            <a:endParaRPr lang="en-US" sz="2000" dirty="0"/>
          </a:p>
        </p:txBody>
      </p:sp>
      <p:sp>
        <p:nvSpPr>
          <p:cNvPr id="18" name="Text 12"/>
          <p:cNvSpPr/>
          <p:nvPr/>
        </p:nvSpPr>
        <p:spPr>
          <a:xfrm>
            <a:off x="7428547" y="5976821"/>
            <a:ext cx="640806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Управление на автомобили, резервации и потребители</a:t>
            </a:r>
            <a:endParaRPr lang="en-US" dirty="0"/>
          </a:p>
        </p:txBody>
      </p:sp>
      <p:sp>
        <p:nvSpPr>
          <p:cNvPr id="22" name="Правоъгълник: със заоблени ъгли 21">
            <a:extLst>
              <a:ext uri="{FF2B5EF4-FFF2-40B4-BE49-F238E27FC236}">
                <a16:creationId xmlns:a16="http://schemas.microsoft.com/office/drawing/2014/main" id="{174EC828-3717-B882-7201-4DBD9DD490FA}"/>
              </a:ext>
            </a:extLst>
          </p:cNvPr>
          <p:cNvSpPr/>
          <p:nvPr/>
        </p:nvSpPr>
        <p:spPr>
          <a:xfrm>
            <a:off x="12801600" y="7705493"/>
            <a:ext cx="1750741" cy="446048"/>
          </a:xfrm>
          <a:prstGeom prst="roundRect">
            <a:avLst/>
          </a:prstGeom>
          <a:solidFill>
            <a:srgbClr val="202733"/>
          </a:solidFill>
          <a:ln>
            <a:solidFill>
              <a:srgbClr val="2027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41993" y="736605"/>
            <a:ext cx="58660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Потребители и роли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630436" y="2559963"/>
            <a:ext cx="6117789" cy="2576751"/>
          </a:xfrm>
          <a:prstGeom prst="roundRect">
            <a:avLst>
              <a:gd name="adj" fmla="val 1320"/>
            </a:avLst>
          </a:prstGeom>
          <a:solidFill>
            <a:srgbClr val="66A8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57250" y="278677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Потребител (User)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57250" y="3367921"/>
            <a:ext cx="6117788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Разглежда каталог на автомобили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Търси коли по критерии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Създава заявки за наем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Проследява статус на резервации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882177" y="5136714"/>
            <a:ext cx="351555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Администратор (Admin)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882177" y="5717858"/>
            <a:ext cx="6244709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Управлява всички автомобили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Одобрява/отхвърля заявки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Преглежда статистика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Управлява потребителски профили</a:t>
            </a:r>
            <a:endParaRPr lang="en-US" sz="1750" dirty="0"/>
          </a:p>
        </p:txBody>
      </p:sp>
      <p:sp>
        <p:nvSpPr>
          <p:cNvPr id="11" name="Правоъгълник: със заоблени ъгли 10">
            <a:extLst>
              <a:ext uri="{FF2B5EF4-FFF2-40B4-BE49-F238E27FC236}">
                <a16:creationId xmlns:a16="http://schemas.microsoft.com/office/drawing/2014/main" id="{91E79368-7B31-5619-7D90-72D064C8A6C6}"/>
              </a:ext>
            </a:extLst>
          </p:cNvPr>
          <p:cNvSpPr/>
          <p:nvPr/>
        </p:nvSpPr>
        <p:spPr>
          <a:xfrm>
            <a:off x="12801600" y="7705493"/>
            <a:ext cx="1750741" cy="446048"/>
          </a:xfrm>
          <a:prstGeom prst="roundRect">
            <a:avLst/>
          </a:prstGeom>
          <a:solidFill>
            <a:srgbClr val="202733"/>
          </a:solidFill>
          <a:ln>
            <a:solidFill>
              <a:srgbClr val="2027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793790" y="3076575"/>
            <a:ext cx="510302" cy="510302"/>
          </a:xfrm>
          <a:prstGeom prst="roundRect">
            <a:avLst>
              <a:gd name="adj" fmla="val 6667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3669030" y="1205389"/>
            <a:ext cx="729234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Автомобили в системата</a:t>
            </a:r>
            <a:endParaRPr lang="en-US" sz="4450" dirty="0"/>
          </a:p>
        </p:txBody>
      </p:sp>
      <p:sp>
        <p:nvSpPr>
          <p:cNvPr id="4" name="Text 2"/>
          <p:cNvSpPr/>
          <p:nvPr/>
        </p:nvSpPr>
        <p:spPr>
          <a:xfrm>
            <a:off x="1530906" y="315444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CRUD операции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530906" y="3644860"/>
            <a:ext cx="342149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Добавяне, редакция и изтриване на автомобили от администратор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5235893" y="5306819"/>
            <a:ext cx="510302" cy="510302"/>
          </a:xfrm>
          <a:prstGeom prst="roundRect">
            <a:avLst>
              <a:gd name="adj" fmla="val 6667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73008" y="5384686"/>
            <a:ext cx="317670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Детайна информация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73008" y="5875104"/>
            <a:ext cx="342149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Марка, модел, година, цена на ден, снимки и описание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9677995" y="3076575"/>
            <a:ext cx="510302" cy="510302"/>
          </a:xfrm>
          <a:prstGeom prst="roundRect">
            <a:avLst>
              <a:gd name="adj" fmla="val 6667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415111" y="3154442"/>
            <a:ext cx="342149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Управление на наличност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415111" y="3999190"/>
            <a:ext cx="3421499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Автоматична проверка на заетост според резервациите</a:t>
            </a:r>
            <a:endParaRPr lang="en-US" sz="1750" dirty="0"/>
          </a:p>
        </p:txBody>
      </p:sp>
      <p:sp>
        <p:nvSpPr>
          <p:cNvPr id="15" name="Правоъгълник: със заоблени ъгли 14">
            <a:extLst>
              <a:ext uri="{FF2B5EF4-FFF2-40B4-BE49-F238E27FC236}">
                <a16:creationId xmlns:a16="http://schemas.microsoft.com/office/drawing/2014/main" id="{0C9B079D-E215-9ADE-BA00-A55EB24756A1}"/>
              </a:ext>
            </a:extLst>
          </p:cNvPr>
          <p:cNvSpPr/>
          <p:nvPr/>
        </p:nvSpPr>
        <p:spPr>
          <a:xfrm>
            <a:off x="12801600" y="7705493"/>
            <a:ext cx="1750741" cy="446048"/>
          </a:xfrm>
          <a:prstGeom prst="roundRect">
            <a:avLst/>
          </a:prstGeom>
          <a:solidFill>
            <a:srgbClr val="202733"/>
          </a:solidFill>
          <a:ln>
            <a:solidFill>
              <a:srgbClr val="2027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48269" y="463510"/>
            <a:ext cx="5709047" cy="6638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00"/>
              </a:lnSpc>
              <a:buNone/>
            </a:pPr>
            <a:r>
              <a:rPr lang="en-US" sz="41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Резервации и процес</a:t>
            </a:r>
            <a:endParaRPr lang="en-US" sz="41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545" y="1730097"/>
            <a:ext cx="6571655" cy="84974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55953" y="2778800"/>
            <a:ext cx="2655808" cy="331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Избор на дати</a:t>
            </a:r>
            <a:endParaRPr lang="en-US" sz="2050" dirty="0"/>
          </a:p>
        </p:txBody>
      </p:sp>
      <p:sp>
        <p:nvSpPr>
          <p:cNvPr id="5" name="Text 2"/>
          <p:cNvSpPr/>
          <p:nvPr/>
        </p:nvSpPr>
        <p:spPr>
          <a:xfrm>
            <a:off x="955953" y="3230047"/>
            <a:ext cx="6146840" cy="329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Потребителят избира начална и крайна дата за наема</a:t>
            </a:r>
            <a:endParaRPr lang="en-US" sz="16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1730097"/>
            <a:ext cx="6571655" cy="849749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527608" y="2778800"/>
            <a:ext cx="3233618" cy="331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Проверка на наличност</a:t>
            </a:r>
            <a:endParaRPr lang="en-US" sz="2050" dirty="0"/>
          </a:p>
        </p:txBody>
      </p:sp>
      <p:sp>
        <p:nvSpPr>
          <p:cNvPr id="8" name="Text 4"/>
          <p:cNvSpPr/>
          <p:nvPr/>
        </p:nvSpPr>
        <p:spPr>
          <a:xfrm>
            <a:off x="7527608" y="3230047"/>
            <a:ext cx="6146840" cy="65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Системата проверява дали колата е свободна в избрания период</a:t>
            </a:r>
            <a:endParaRPr lang="en-US" sz="16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545" y="4100632"/>
            <a:ext cx="6571655" cy="849749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55953" y="5149334"/>
            <a:ext cx="2823210" cy="331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Създаване на заявка</a:t>
            </a:r>
            <a:endParaRPr lang="en-US" sz="2050" dirty="0"/>
          </a:p>
        </p:txBody>
      </p:sp>
      <p:sp>
        <p:nvSpPr>
          <p:cNvPr id="11" name="Text 6"/>
          <p:cNvSpPr/>
          <p:nvPr/>
        </p:nvSpPr>
        <p:spPr>
          <a:xfrm>
            <a:off x="955953" y="5600581"/>
            <a:ext cx="6146840" cy="329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Генерира се заявка, която изчаква одобрение</a:t>
            </a:r>
            <a:endParaRPr lang="en-US" sz="16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0" y="4100632"/>
            <a:ext cx="6571655" cy="849749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527608" y="5149334"/>
            <a:ext cx="2655808" cy="331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Одобрение</a:t>
            </a:r>
            <a:endParaRPr lang="en-US" sz="2050" dirty="0"/>
          </a:p>
        </p:txBody>
      </p:sp>
      <p:sp>
        <p:nvSpPr>
          <p:cNvPr id="14" name="Text 8"/>
          <p:cNvSpPr/>
          <p:nvPr/>
        </p:nvSpPr>
        <p:spPr>
          <a:xfrm>
            <a:off x="7527608" y="5600581"/>
            <a:ext cx="6146840" cy="329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50"/>
              </a:lnSpc>
              <a:buNone/>
            </a:pPr>
            <a:r>
              <a:rPr lang="en-US" sz="16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Администраторът одобрява или отхвърля заявката</a:t>
            </a:r>
            <a:endParaRPr lang="en-US" sz="1650" dirty="0"/>
          </a:p>
        </p:txBody>
      </p:sp>
      <p:sp>
        <p:nvSpPr>
          <p:cNvPr id="18" name="Правоъгълник: със заоблени ъгли 17">
            <a:extLst>
              <a:ext uri="{FF2B5EF4-FFF2-40B4-BE49-F238E27FC236}">
                <a16:creationId xmlns:a16="http://schemas.microsoft.com/office/drawing/2014/main" id="{B08FCA91-9B24-334B-4836-1618EF3FA549}"/>
              </a:ext>
            </a:extLst>
          </p:cNvPr>
          <p:cNvSpPr/>
          <p:nvPr/>
        </p:nvSpPr>
        <p:spPr>
          <a:xfrm>
            <a:off x="12801600" y="7705493"/>
            <a:ext cx="1750741" cy="446048"/>
          </a:xfrm>
          <a:prstGeom prst="roundRect">
            <a:avLst/>
          </a:prstGeom>
          <a:solidFill>
            <a:srgbClr val="202733"/>
          </a:solidFill>
          <a:ln>
            <a:solidFill>
              <a:srgbClr val="2027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79846" y="977735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Ключова логика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707243"/>
            <a:ext cx="4196358" cy="2395657"/>
          </a:xfrm>
          <a:prstGeom prst="roundRect">
            <a:avLst>
              <a:gd name="adj" fmla="val 1420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020604" y="2934057"/>
            <a:ext cx="290262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Проверка за заетост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20604" y="3424476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Системата проверява дали автомобилът вече е резервиран в избрания период преди да създаде нова заявка</a:t>
            </a:r>
            <a:endParaRPr lang="en-US" sz="1750" dirty="0"/>
          </a:p>
        </p:txBody>
      </p:sp>
      <p:sp>
        <p:nvSpPr>
          <p:cNvPr id="6" name="Shape 4"/>
          <p:cNvSpPr/>
          <p:nvPr/>
        </p:nvSpPr>
        <p:spPr>
          <a:xfrm>
            <a:off x="5216962" y="2707243"/>
            <a:ext cx="4196358" cy="2395657"/>
          </a:xfrm>
          <a:prstGeom prst="roundRect">
            <a:avLst>
              <a:gd name="adj" fmla="val 1420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43776" y="2934057"/>
            <a:ext cx="374273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Предотвратяване на конфликти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443776" y="3778806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Имплементирана логика за предотвратяване на двойни резервации и времеви конфликти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9640133" y="2707243"/>
            <a:ext cx="4196358" cy="2395657"/>
          </a:xfrm>
          <a:prstGeom prst="roundRect">
            <a:avLst>
              <a:gd name="adj" fmla="val 1420"/>
            </a:avLst>
          </a:prstGeom>
          <a:solidFill>
            <a:srgbClr val="3F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866948" y="2934057"/>
            <a:ext cx="3023592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D6E5E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Валидация на данни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866948" y="3424476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Проверка за валидност на дати, цени и потребителски данни преди запис в базата</a:t>
            </a:r>
            <a:endParaRPr lang="en-US" sz="1750" dirty="0"/>
          </a:p>
        </p:txBody>
      </p:sp>
      <p:sp>
        <p:nvSpPr>
          <p:cNvPr id="15" name="Правоъгълник: със заоблени ъгли 14">
            <a:extLst>
              <a:ext uri="{FF2B5EF4-FFF2-40B4-BE49-F238E27FC236}">
                <a16:creationId xmlns:a16="http://schemas.microsoft.com/office/drawing/2014/main" id="{3E59D5A4-B65F-DF6A-1FAA-C8CE88454DF4}"/>
              </a:ext>
            </a:extLst>
          </p:cNvPr>
          <p:cNvSpPr/>
          <p:nvPr/>
        </p:nvSpPr>
        <p:spPr>
          <a:xfrm>
            <a:off x="12801600" y="7705493"/>
            <a:ext cx="1750741" cy="446048"/>
          </a:xfrm>
          <a:prstGeom prst="roundRect">
            <a:avLst/>
          </a:prstGeom>
          <a:solidFill>
            <a:srgbClr val="202733"/>
          </a:solidFill>
          <a:ln>
            <a:solidFill>
              <a:srgbClr val="2027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02449" y="1792510"/>
            <a:ext cx="7825502" cy="9782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7700"/>
              </a:lnSpc>
              <a:buNone/>
            </a:pPr>
            <a:r>
              <a:rPr lang="en-US" sz="61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Демонстрация</a:t>
            </a:r>
            <a:endParaRPr lang="en-US" sz="6150" dirty="0"/>
          </a:p>
        </p:txBody>
      </p:sp>
      <p:sp>
        <p:nvSpPr>
          <p:cNvPr id="3" name="Text 1"/>
          <p:cNvSpPr/>
          <p:nvPr/>
        </p:nvSpPr>
        <p:spPr>
          <a:xfrm>
            <a:off x="793789" y="3800327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Ще демонстрираме работещата система на живо</a:t>
            </a:r>
            <a:endParaRPr lang="en-US" sz="1750" dirty="0"/>
          </a:p>
        </p:txBody>
      </p:sp>
      <p:sp>
        <p:nvSpPr>
          <p:cNvPr id="7" name="Правоъгълник: със заоблени ъгли 6">
            <a:extLst>
              <a:ext uri="{FF2B5EF4-FFF2-40B4-BE49-F238E27FC236}">
                <a16:creationId xmlns:a16="http://schemas.microsoft.com/office/drawing/2014/main" id="{95D97FD8-12B7-7DD9-0133-83D1DBACDD2F}"/>
              </a:ext>
            </a:extLst>
          </p:cNvPr>
          <p:cNvSpPr/>
          <p:nvPr/>
        </p:nvSpPr>
        <p:spPr>
          <a:xfrm>
            <a:off x="12801600" y="7705493"/>
            <a:ext cx="1750741" cy="446048"/>
          </a:xfrm>
          <a:prstGeom prst="roundRect">
            <a:avLst/>
          </a:prstGeom>
          <a:solidFill>
            <a:srgbClr val="202733"/>
          </a:solidFill>
          <a:ln>
            <a:solidFill>
              <a:srgbClr val="2027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авоъгълник: със заоблени ъгли 1">
            <a:extLst>
              <a:ext uri="{FF2B5EF4-FFF2-40B4-BE49-F238E27FC236}">
                <a16:creationId xmlns:a16="http://schemas.microsoft.com/office/drawing/2014/main" id="{CE967987-5803-F9FC-D2CF-175669C50696}"/>
              </a:ext>
            </a:extLst>
          </p:cNvPr>
          <p:cNvSpPr/>
          <p:nvPr/>
        </p:nvSpPr>
        <p:spPr>
          <a:xfrm>
            <a:off x="12801600" y="7705493"/>
            <a:ext cx="1750741" cy="446048"/>
          </a:xfrm>
          <a:prstGeom prst="roundRect">
            <a:avLst/>
          </a:prstGeom>
          <a:solidFill>
            <a:srgbClr val="202733"/>
          </a:solidFill>
          <a:ln>
            <a:solidFill>
              <a:srgbClr val="2027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5" name="Picture 1">
            <a:extLst>
              <a:ext uri="{FF2B5EF4-FFF2-40B4-BE49-F238E27FC236}">
                <a16:creationId xmlns:a16="http://schemas.microsoft.com/office/drawing/2014/main" id="{6E9E50C1-CDEE-0AC5-BC6B-90C581406A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8060" y="0"/>
            <a:ext cx="14708459" cy="822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Текстово поле 2">
            <a:extLst>
              <a:ext uri="{FF2B5EF4-FFF2-40B4-BE49-F238E27FC236}">
                <a16:creationId xmlns:a16="http://schemas.microsoft.com/office/drawing/2014/main" id="{18A820B6-0F1D-62BE-1371-E2EE018ABEA5}"/>
              </a:ext>
            </a:extLst>
          </p:cNvPr>
          <p:cNvSpPr txBox="1"/>
          <p:nvPr/>
        </p:nvSpPr>
        <p:spPr>
          <a:xfrm>
            <a:off x="7276169" y="390144"/>
            <a:ext cx="661557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480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Благодарим за вниманието!</a:t>
            </a:r>
            <a:endParaRPr lang="en-US" sz="4800" dirty="0">
              <a:solidFill>
                <a:srgbClr val="76B9F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02214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на Office">
  <a:themeElements>
    <a:clrScheme name="О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328</Words>
  <Application>Microsoft Office PowerPoint</Application>
  <PresentationFormat>По избор</PresentationFormat>
  <Paragraphs>76</Paragraphs>
  <Slides>10</Slides>
  <Notes>9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10</vt:i4>
      </vt:variant>
    </vt:vector>
  </HeadingPairs>
  <TitlesOfParts>
    <vt:vector size="15" baseType="lpstr">
      <vt:lpstr>Roboto Slab</vt:lpstr>
      <vt:lpstr>Roboto</vt:lpstr>
      <vt:lpstr>Arial</vt:lpstr>
      <vt:lpstr>Roboto Slab Light</vt:lpstr>
      <vt:lpstr>Office Theme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Preslava Dobreva</dc:creator>
  <cp:lastModifiedBy>Преслава Д. Добрева</cp:lastModifiedBy>
  <cp:revision>2</cp:revision>
  <dcterms:created xsi:type="dcterms:W3CDTF">2026-04-04T21:34:35Z</dcterms:created>
  <dcterms:modified xsi:type="dcterms:W3CDTF">2026-04-04T21:54:08Z</dcterms:modified>
</cp:coreProperties>
</file>