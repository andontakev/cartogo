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5" r:id="rId11"/>
    <p:sldId id="266" r:id="rId12"/>
  </p:sldIdLst>
  <p:sldSz cx="14630400" cy="8229600"/>
  <p:notesSz cx="8229600" cy="14630400"/>
  <p:embeddedFontLst>
    <p:embeddedFont>
      <p:font typeface="Roboto" panose="02000000000000000000" pitchFamily="2" charset="0"/>
      <p:regular r:id="rId14"/>
      <p:bold r:id="rId15"/>
      <p:italic r:id="rId16"/>
    </p:embeddedFont>
    <p:embeddedFont>
      <p:font typeface="Roboto Slab" pitchFamily="2" charset="0"/>
      <p:regular r:id="rId17"/>
    </p:embeddedFont>
    <p:embeddedFont>
      <p:font typeface="Roboto Slab Light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7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9202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36705" y="18696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CarToGo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596045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Уеб приложение за отдаване на автомобили под наем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89" y="577737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PresAndo team (</a:t>
            </a:r>
            <a:r>
              <a:rPr lang="bg-BG" sz="175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Преслава Добрева и Андон Такев</a:t>
            </a:r>
            <a:r>
              <a:rPr lang="en-US" sz="1750" i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89612" y="666863"/>
            <a:ext cx="778740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Какъв проблем решаваме?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76763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2676763"/>
            <a:ext cx="121920" cy="24566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2934057"/>
            <a:ext cx="28803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Разпръснати данни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2524" y="3424476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Автомобилите се предлагат на различни места без централизирана система за търсене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2676763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2" y="2676763"/>
            <a:ext cx="121920" cy="24566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65696" y="29340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Ръчно управление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565696" y="3424476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Резервациите се управляват ръчно, което води до грешки и двойни резервации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40133" y="2676763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2676763"/>
            <a:ext cx="121920" cy="24566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88868" y="2934057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Недостъпна информация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988868" y="3778806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Потребителите трудно намират актуална информация за наличност и цени</a:t>
            </a:r>
            <a:endParaRPr lang="en-US" sz="1750" dirty="0"/>
          </a:p>
        </p:txBody>
      </p:sp>
      <p:sp>
        <p:nvSpPr>
          <p:cNvPr id="18" name="Правоъгълник: със заоблени ъгли 17">
            <a:extLst>
              <a:ext uri="{FF2B5EF4-FFF2-40B4-BE49-F238E27FC236}">
                <a16:creationId xmlns:a16="http://schemas.microsoft.com/office/drawing/2014/main" id="{83A3B6EF-4FFE-A610-B8B3-9D43BE13DCF7}"/>
              </a:ext>
            </a:extLst>
          </p:cNvPr>
          <p:cNvSpPr/>
          <p:nvPr/>
        </p:nvSpPr>
        <p:spPr>
          <a:xfrm>
            <a:off x="12801600" y="7705493"/>
            <a:ext cx="1750741" cy="446048"/>
          </a:xfrm>
          <a:prstGeom prst="round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">
            <a:extLst>
              <a:ext uri="{FF2B5EF4-FFF2-40B4-BE49-F238E27FC236}">
                <a16:creationId xmlns:a16="http://schemas.microsoft.com/office/drawing/2014/main" id="{246CFDA4-A4E5-18FD-080C-D5CBB774573E}"/>
              </a:ext>
            </a:extLst>
          </p:cNvPr>
          <p:cNvSpPr/>
          <p:nvPr/>
        </p:nvSpPr>
        <p:spPr>
          <a:xfrm>
            <a:off x="9907911" y="4275875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1E050A58-08CC-2043-4515-ABAEBF67D6D2}"/>
              </a:ext>
            </a:extLst>
          </p:cNvPr>
          <p:cNvSpPr/>
          <p:nvPr/>
        </p:nvSpPr>
        <p:spPr>
          <a:xfrm>
            <a:off x="5217020" y="2200453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8F47152D-4D2B-C03E-73EC-A638BBD3FE59}"/>
              </a:ext>
            </a:extLst>
          </p:cNvPr>
          <p:cNvSpPr/>
          <p:nvPr/>
        </p:nvSpPr>
        <p:spPr>
          <a:xfrm>
            <a:off x="635251" y="4275875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486691" y="7355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Нашето решение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568710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Централизирана платформа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5504184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Единствена система за управление на всички автомобили и резервации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657552" y="2847618"/>
            <a:ext cx="33152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Интелигентно търсене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3428762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Бързо намиране на подходяща кола според нуждите и дати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14319" y="4795524"/>
            <a:ext cx="35835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Автоматизиран контрол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17033" y="5335353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Администраторски панел за управление и одобрение на заявки</a:t>
            </a:r>
            <a:endParaRPr lang="en-US" sz="1750" dirty="0"/>
          </a:p>
        </p:txBody>
      </p:sp>
      <p:sp>
        <p:nvSpPr>
          <p:cNvPr id="12" name="Правоъгълник: със заоблени ъгли 11">
            <a:extLst>
              <a:ext uri="{FF2B5EF4-FFF2-40B4-BE49-F238E27FC236}">
                <a16:creationId xmlns:a16="http://schemas.microsoft.com/office/drawing/2014/main" id="{FAD0A6F3-34F8-FEB4-CCBD-114F43E6FEFF}"/>
              </a:ext>
            </a:extLst>
          </p:cNvPr>
          <p:cNvSpPr/>
          <p:nvPr/>
        </p:nvSpPr>
        <p:spPr>
          <a:xfrm>
            <a:off x="12801600" y="7705493"/>
            <a:ext cx="1750741" cy="446048"/>
          </a:xfrm>
          <a:prstGeom prst="round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341" y="927544"/>
            <a:ext cx="80027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Основни функционалности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0369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58741"/>
            <a:ext cx="640794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433048"/>
            <a:ext cx="35877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Потребителски профили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93790" y="3923467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Регистрация, вход и управление на лична информация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428548" y="290369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3258741"/>
            <a:ext cx="6408063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8548" y="3433048"/>
            <a:ext cx="34272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Каталог на автомобили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428548" y="3923467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Преглед на всички налични коли с детайли и снимки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793789" y="495705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89" y="5289354"/>
            <a:ext cx="6407944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89" y="54864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Система за заявки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793789" y="5976821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Създаване и проследяване на резервации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7428547" y="495705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7" y="5289354"/>
            <a:ext cx="6408063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8547" y="5486402"/>
            <a:ext cx="36627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Административен панел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7428547" y="5976821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Управление на автомобили, резервации и потребители</a:t>
            </a:r>
            <a:endParaRPr lang="en-US" dirty="0"/>
          </a:p>
        </p:txBody>
      </p:sp>
      <p:sp>
        <p:nvSpPr>
          <p:cNvPr id="22" name="Правоъгълник: със заоблени ъгли 21">
            <a:extLst>
              <a:ext uri="{FF2B5EF4-FFF2-40B4-BE49-F238E27FC236}">
                <a16:creationId xmlns:a16="http://schemas.microsoft.com/office/drawing/2014/main" id="{174EC828-3717-B882-7201-4DBD9DD490FA}"/>
              </a:ext>
            </a:extLst>
          </p:cNvPr>
          <p:cNvSpPr/>
          <p:nvPr/>
        </p:nvSpPr>
        <p:spPr>
          <a:xfrm>
            <a:off x="12801600" y="7705493"/>
            <a:ext cx="1750741" cy="446048"/>
          </a:xfrm>
          <a:prstGeom prst="round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41993" y="736605"/>
            <a:ext cx="58660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Потребители и роли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630436" y="2559963"/>
            <a:ext cx="6117789" cy="2576751"/>
          </a:xfrm>
          <a:prstGeom prst="roundRect">
            <a:avLst>
              <a:gd name="adj" fmla="val 1320"/>
            </a:avLst>
          </a:prstGeom>
          <a:solidFill>
            <a:srgbClr val="66A8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7250" y="27867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Потребител (User)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367921"/>
            <a:ext cx="6117788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Разглежда каталог на автомобили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Търси коли по критерии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Създава заявки за наем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Проследява статус на резервации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882177" y="5136714"/>
            <a:ext cx="35155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Администратор (Admin)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882177" y="5717858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Управлява всички автомобили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Одобрява/отхвърля заявки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Преглежда статистика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Управлява потребителски профили</a:t>
            </a:r>
            <a:endParaRPr lang="en-US" sz="1750" dirty="0"/>
          </a:p>
        </p:txBody>
      </p:sp>
      <p:sp>
        <p:nvSpPr>
          <p:cNvPr id="11" name="Правоъгълник: със заоблени ъгли 10">
            <a:extLst>
              <a:ext uri="{FF2B5EF4-FFF2-40B4-BE49-F238E27FC236}">
                <a16:creationId xmlns:a16="http://schemas.microsoft.com/office/drawing/2014/main" id="{91E79368-7B31-5619-7D90-72D064C8A6C6}"/>
              </a:ext>
            </a:extLst>
          </p:cNvPr>
          <p:cNvSpPr/>
          <p:nvPr/>
        </p:nvSpPr>
        <p:spPr>
          <a:xfrm>
            <a:off x="12801600" y="7705493"/>
            <a:ext cx="1750741" cy="446048"/>
          </a:xfrm>
          <a:prstGeom prst="round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93790" y="307657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669030" y="1205389"/>
            <a:ext cx="72923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Автомобили в системата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1530906" y="31544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CRUD операции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3644860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Добавяне, редакция и изтриване на автомобили от администратор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35893" y="530681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73008" y="5384686"/>
            <a:ext cx="31767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Детайна информация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73008" y="5875104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Марка, модел, година, цена на ден, снимки и описание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77995" y="307657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15111" y="3154442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Управление на наличност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5111" y="3999190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Автоматична проверка на заетост според резервациите</a:t>
            </a:r>
            <a:endParaRPr lang="en-US" sz="1750" dirty="0"/>
          </a:p>
        </p:txBody>
      </p:sp>
      <p:sp>
        <p:nvSpPr>
          <p:cNvPr id="15" name="Правоъгълник: със заоблени ъгли 14">
            <a:extLst>
              <a:ext uri="{FF2B5EF4-FFF2-40B4-BE49-F238E27FC236}">
                <a16:creationId xmlns:a16="http://schemas.microsoft.com/office/drawing/2014/main" id="{0C9B079D-E215-9ADE-BA00-A55EB24756A1}"/>
              </a:ext>
            </a:extLst>
          </p:cNvPr>
          <p:cNvSpPr/>
          <p:nvPr/>
        </p:nvSpPr>
        <p:spPr>
          <a:xfrm>
            <a:off x="12801600" y="7705493"/>
            <a:ext cx="1750741" cy="446048"/>
          </a:xfrm>
          <a:prstGeom prst="round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48269" y="463510"/>
            <a:ext cx="5709047" cy="663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Резервации и процес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45" y="1730097"/>
            <a:ext cx="6571655" cy="8497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5953" y="2778800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Избор на дати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955953" y="3230047"/>
            <a:ext cx="6146840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Потребителят избира начална и крайна дата за наема</a:t>
            </a:r>
            <a:endParaRPr lang="en-US" sz="1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730097"/>
            <a:ext cx="6571655" cy="8497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7608" y="2778800"/>
            <a:ext cx="323361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Проверка на наличност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7527608" y="3230047"/>
            <a:ext cx="6146840" cy="658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Системата проверява дали колата е свободна в избрания период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545" y="4100632"/>
            <a:ext cx="6571655" cy="8497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5953" y="5149334"/>
            <a:ext cx="2823210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Създаване на заявка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955953" y="5600581"/>
            <a:ext cx="6146840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Генерира се заявка, която изчаква одобрение</a:t>
            </a:r>
            <a:endParaRPr lang="en-US" sz="16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100632"/>
            <a:ext cx="6571655" cy="8497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27608" y="5149334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Одобрение</a:t>
            </a:r>
            <a:endParaRPr lang="en-US" sz="2050" dirty="0"/>
          </a:p>
        </p:txBody>
      </p:sp>
      <p:sp>
        <p:nvSpPr>
          <p:cNvPr id="14" name="Text 8"/>
          <p:cNvSpPr/>
          <p:nvPr/>
        </p:nvSpPr>
        <p:spPr>
          <a:xfrm>
            <a:off x="7527608" y="5600581"/>
            <a:ext cx="6146840" cy="329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Администраторът одобрява или отхвърля заявката</a:t>
            </a:r>
            <a:endParaRPr lang="en-US" sz="1650" dirty="0"/>
          </a:p>
        </p:txBody>
      </p:sp>
      <p:sp>
        <p:nvSpPr>
          <p:cNvPr id="18" name="Правоъгълник: със заоблени ъгли 17">
            <a:extLst>
              <a:ext uri="{FF2B5EF4-FFF2-40B4-BE49-F238E27FC236}">
                <a16:creationId xmlns:a16="http://schemas.microsoft.com/office/drawing/2014/main" id="{B08FCA91-9B24-334B-4836-1618EF3FA549}"/>
              </a:ext>
            </a:extLst>
          </p:cNvPr>
          <p:cNvSpPr/>
          <p:nvPr/>
        </p:nvSpPr>
        <p:spPr>
          <a:xfrm>
            <a:off x="12801600" y="7705493"/>
            <a:ext cx="1750741" cy="446048"/>
          </a:xfrm>
          <a:prstGeom prst="round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9777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Ключова логика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07243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0604" y="2934057"/>
            <a:ext cx="29026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Проверка за заетост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424476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Системата проверява дали автомобилът вече е резервиран в избрания период преди да създаде нова заявка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707243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43776" y="2934057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Предотвратяване на конфликти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778806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Имплементирана логика за предотвратяване на двойни резервации и времеви конфликти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707243"/>
            <a:ext cx="4196358" cy="2395657"/>
          </a:xfrm>
          <a:prstGeom prst="roundRect">
            <a:avLst>
              <a:gd name="adj" fmla="val 1420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66948" y="2934057"/>
            <a:ext cx="30235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Валидация на данни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424476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Проверка за валидност на дати, цени и потребителски данни преди запис в базата</a:t>
            </a:r>
            <a:endParaRPr lang="en-US" sz="1750" dirty="0"/>
          </a:p>
        </p:txBody>
      </p:sp>
      <p:sp>
        <p:nvSpPr>
          <p:cNvPr id="15" name="Правоъгълник: със заоблени ъгли 14">
            <a:extLst>
              <a:ext uri="{FF2B5EF4-FFF2-40B4-BE49-F238E27FC236}">
                <a16:creationId xmlns:a16="http://schemas.microsoft.com/office/drawing/2014/main" id="{3E59D5A4-B65F-DF6A-1FAA-C8CE88454DF4}"/>
              </a:ext>
            </a:extLst>
          </p:cNvPr>
          <p:cNvSpPr/>
          <p:nvPr/>
        </p:nvSpPr>
        <p:spPr>
          <a:xfrm>
            <a:off x="12801600" y="7705493"/>
            <a:ext cx="1750741" cy="446048"/>
          </a:xfrm>
          <a:prstGeom prst="round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авоъгълник: със заоблени ъгли 1">
            <a:extLst>
              <a:ext uri="{FF2B5EF4-FFF2-40B4-BE49-F238E27FC236}">
                <a16:creationId xmlns:a16="http://schemas.microsoft.com/office/drawing/2014/main" id="{436EC94B-B2A0-9C3B-5ECE-31968DDC3D99}"/>
              </a:ext>
            </a:extLst>
          </p:cNvPr>
          <p:cNvSpPr/>
          <p:nvPr/>
        </p:nvSpPr>
        <p:spPr>
          <a:xfrm>
            <a:off x="12801600" y="7705493"/>
            <a:ext cx="1750741" cy="446048"/>
          </a:xfrm>
          <a:prstGeom prst="round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D2F28D01-30B0-58D0-45A7-CE6C4F5E4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005933"/>
            <a:ext cx="14249400" cy="661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006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1792510"/>
            <a:ext cx="7825502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Демонстрация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89" y="38003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Ще демонстрираме работещата система на живо</a:t>
            </a:r>
            <a:endParaRPr lang="en-US" sz="1750" dirty="0"/>
          </a:p>
        </p:txBody>
      </p:sp>
      <p:sp>
        <p:nvSpPr>
          <p:cNvPr id="7" name="Правоъгълник: със заоблени ъгли 6">
            <a:extLst>
              <a:ext uri="{FF2B5EF4-FFF2-40B4-BE49-F238E27FC236}">
                <a16:creationId xmlns:a16="http://schemas.microsoft.com/office/drawing/2014/main" id="{95D97FD8-12B7-7DD9-0133-83D1DBACDD2F}"/>
              </a:ext>
            </a:extLst>
          </p:cNvPr>
          <p:cNvSpPr/>
          <p:nvPr/>
        </p:nvSpPr>
        <p:spPr>
          <a:xfrm>
            <a:off x="12801600" y="7705493"/>
            <a:ext cx="1750741" cy="446048"/>
          </a:xfrm>
          <a:prstGeom prst="round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авоъгълник: със заоблени ъгли 1">
            <a:extLst>
              <a:ext uri="{FF2B5EF4-FFF2-40B4-BE49-F238E27FC236}">
                <a16:creationId xmlns:a16="http://schemas.microsoft.com/office/drawing/2014/main" id="{CE967987-5803-F9FC-D2CF-175669C50696}"/>
              </a:ext>
            </a:extLst>
          </p:cNvPr>
          <p:cNvSpPr/>
          <p:nvPr/>
        </p:nvSpPr>
        <p:spPr>
          <a:xfrm>
            <a:off x="12801600" y="7705493"/>
            <a:ext cx="1750741" cy="446048"/>
          </a:xfrm>
          <a:prstGeom prst="roundRect">
            <a:avLst/>
          </a:prstGeom>
          <a:solidFill>
            <a:srgbClr val="202733"/>
          </a:solidFill>
          <a:ln>
            <a:solidFill>
              <a:srgbClr val="2027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6E9E50C1-CDEE-0AC5-BC6B-90C581406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8060" y="0"/>
            <a:ext cx="14708459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Текстово поле 2">
            <a:extLst>
              <a:ext uri="{FF2B5EF4-FFF2-40B4-BE49-F238E27FC236}">
                <a16:creationId xmlns:a16="http://schemas.microsoft.com/office/drawing/2014/main" id="{18A820B6-0F1D-62BE-1371-E2EE018ABEA5}"/>
              </a:ext>
            </a:extLst>
          </p:cNvPr>
          <p:cNvSpPr txBox="1"/>
          <p:nvPr/>
        </p:nvSpPr>
        <p:spPr>
          <a:xfrm>
            <a:off x="7276169" y="390144"/>
            <a:ext cx="66155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48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Благодарим за вниманието!</a:t>
            </a:r>
            <a:endParaRPr lang="en-US" sz="4800" dirty="0">
              <a:solidFill>
                <a:srgbClr val="76B9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221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328</Words>
  <Application>Microsoft Office PowerPoint</Application>
  <PresentationFormat>По избор</PresentationFormat>
  <Paragraphs>76</Paragraphs>
  <Slides>11</Slides>
  <Notes>9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11</vt:i4>
      </vt:variant>
    </vt:vector>
  </HeadingPairs>
  <TitlesOfParts>
    <vt:vector size="16" baseType="lpstr">
      <vt:lpstr>Roboto Slab</vt:lpstr>
      <vt:lpstr>Roboto</vt:lpstr>
      <vt:lpstr>Arial</vt:lpstr>
      <vt:lpstr>Roboto Slab Light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Preslava Dobreva</dc:creator>
  <cp:lastModifiedBy>Преслава Д. Добрева</cp:lastModifiedBy>
  <cp:revision>3</cp:revision>
  <dcterms:created xsi:type="dcterms:W3CDTF">2026-04-04T21:34:35Z</dcterms:created>
  <dcterms:modified xsi:type="dcterms:W3CDTF">2026-04-05T07:00:12Z</dcterms:modified>
</cp:coreProperties>
</file>